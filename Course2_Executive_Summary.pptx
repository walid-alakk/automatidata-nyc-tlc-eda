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Taxi &amp; Limousine Commission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3931920"/>
            <a:ext cx="2011680" cy="658368"/>
          </a:xfrm>
          <a:prstGeom prst="rect">
            <a:avLst/>
          </a:prstGeom>
          <a:solidFill>
            <a:srgbClr val="2D5A7A"/>
          </a:solidFill>
          <a:ln w="12700">
            <a:solidFill>
              <a:srgbClr val="2D5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968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371600" y="4206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3931920"/>
            <a:ext cx="2011680" cy="658368"/>
          </a:xfrm>
          <a:prstGeom prst="rect">
            <a:avLst/>
          </a:prstGeom>
          <a:solidFill>
            <a:srgbClr val="2D5A7A"/>
          </a:solidFill>
          <a:ln w="12700">
            <a:solidFill>
              <a:srgbClr val="2D5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3968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749040" y="4206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TLC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3931920"/>
            <a:ext cx="2011680" cy="658368"/>
          </a:xfrm>
          <a:prstGeom prst="rect">
            <a:avLst/>
          </a:prstGeom>
          <a:solidFill>
            <a:srgbClr val="2D5A7A"/>
          </a:solidFill>
          <a:ln w="12700">
            <a:solidFill>
              <a:srgbClr val="2D5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968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126480" y="4206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PACE: Analyze → Construct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03920" y="3931920"/>
            <a:ext cx="2011680" cy="658368"/>
          </a:xfrm>
          <a:prstGeom prst="rect">
            <a:avLst/>
          </a:prstGeom>
          <a:solidFill>
            <a:srgbClr val="2D5A7A"/>
          </a:solidFill>
          <a:ln w="12700">
            <a:solidFill>
              <a:srgbClr val="2D5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3968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503920" y="4206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502920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2 — Go Beyond the Numbers: Translate Data into Insights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Yellow Taxi Trip Data — NYC TLC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115214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3749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5331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22,699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20040" y="24505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Trip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078992"/>
            <a:ext cx="3749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0" y="135331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297680" y="24505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75320" y="1078992"/>
            <a:ext cx="3749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35331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275320" y="24505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547872"/>
            <a:ext cx="3749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382219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320040" y="49194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trip_distance ↔ fare 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3547872"/>
            <a:ext cx="3749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97680" y="382219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$13.03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4297680" y="49194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Fare Amount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75320" y="3547872"/>
            <a:ext cx="3749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75320" y="382219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8275320" y="49194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Trips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distance &amp; total amount — right-skewed with notable outliers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115214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24128"/>
            <a:ext cx="5669280" cy="237744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024128"/>
            <a:ext cx="5669280" cy="237744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520440"/>
            <a:ext cx="5669280" cy="128016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520440"/>
            <a:ext cx="5669280" cy="12801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20040" y="4983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</a:t>
            </a:r>
            <a:endParaRPr lang="en-US" sz="1000" dirty="0"/>
          </a:p>
        </p:txBody>
      </p:sp>
      <p:sp>
        <p:nvSpPr>
          <p:cNvPr id="11" name="Text 5"/>
          <p:cNvSpPr/>
          <p:nvPr/>
        </p:nvSpPr>
        <p:spPr>
          <a:xfrm>
            <a:off x="320040" y="52395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trips &lt; 5 miles, most fares &lt; $15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4297680" y="4983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present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4297680" y="52395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fares &amp; zero-distance trips need cleaning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8275320" y="4983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8275320" y="52395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Airport/outer-borough trips inflate means significantly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Amount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tips only — cash tips are not recorded in this dataset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115214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24128"/>
            <a:ext cx="5577840" cy="23317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024128"/>
            <a:ext cx="5760720" cy="2331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0040" y="3566160"/>
            <a:ext cx="3749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20040" y="3566160"/>
            <a:ext cx="3749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36758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Cash tips missing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402336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~33% of trips are cash — tips for these are recorded as $0, making mean tip artificially low.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297680" y="3566160"/>
            <a:ext cx="3749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97680" y="3566160"/>
            <a:ext cx="3749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434840" y="36758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Vendor parity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434840" y="402336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VeriFone and Creative Mobile show similar tip distributions — vendor is not a strong tip predictor.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275320" y="3566160"/>
            <a:ext cx="3749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75320" y="3566160"/>
            <a:ext cx="3749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412480" y="36758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Group trips tip more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8412480" y="402336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passenger trips have higher mean tips than solo rides, though sample sizes are small.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volume and revenue by day of week and month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115214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24128"/>
            <a:ext cx="5577840" cy="23317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024128"/>
            <a:ext cx="5760720" cy="233172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520440"/>
            <a:ext cx="5577840" cy="233172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520440"/>
            <a:ext cx="5760720" cy="233172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320040" y="5989320"/>
            <a:ext cx="11521440" cy="65836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02920" y="60533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Peak day: Friday &amp; Thursday    |    📆  Peak months: March &amp; October    |    📉  Quietest: Monday &amp; January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 Relationships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confirms trip_distance as primary fare predictor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115214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24128"/>
            <a:ext cx="530352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97880" y="1188720"/>
            <a:ext cx="5943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97880" y="1188720"/>
            <a:ext cx="9144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1280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126480" y="17830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trip_distance ↔ fare_amount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97880" y="2606040"/>
            <a:ext cx="5943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97880" y="2606040"/>
            <a:ext cx="9144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2697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0.95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126480" y="32004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fare_amount ↔ total_amount*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97880" y="4023360"/>
            <a:ext cx="5943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97880" y="4023360"/>
            <a:ext cx="91440" cy="11887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0.09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126480" y="46177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passenger_count ↔ fare_amount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97880" y="5413248"/>
            <a:ext cx="5943600" cy="1188720"/>
          </a:xfrm>
          <a:prstGeom prst="rect">
            <a:avLst/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54864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Data leakage warning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080760" y="577900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total_amount* is derived from fare_amount. Including it as a predictor in the regression model would cause data leakage. It must be excluded from training.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Flags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identified during EDA — must be resolved before model training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115214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3749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37490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  Negative fare amounts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536192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361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1856232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fare_amount and total_amount values are negative. Likely disputes or refunds. Remove before modeling.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0" y="1078992"/>
            <a:ext cx="3749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078992"/>
            <a:ext cx="37490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1887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Zero-distance trips with fare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34840" y="1536192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15361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434840" y="1856232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trip_distance = 0 but fare_amount &gt; 0. Inconsistent — possible meter errors. Investigate and remove.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75320" y="1078992"/>
            <a:ext cx="3749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75320" y="1078992"/>
            <a:ext cx="37490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11887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Negative trip durations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12480" y="1536192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15361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412480" y="1856232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Dropoff timestamp before pickup. Likely recording errors. These rows must be dropped.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685032"/>
            <a:ext cx="3749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85032"/>
            <a:ext cx="3749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947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Extreme outliers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142232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1422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57200" y="4462272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total_amount up to $1,200. May be valid (long trips) or errors. Flag for review before including in training data.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97680" y="3685032"/>
            <a:ext cx="3749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97680" y="3685032"/>
            <a:ext cx="3749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37947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 Cash tip underreporting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34840" y="4142232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41422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434840" y="4462272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tips (~33% of trips) are recorded as $0. Tip analysis and any tip-based features will be biased.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275320" y="3685032"/>
            <a:ext cx="3749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75320" y="3685032"/>
            <a:ext cx="3749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0" y="37947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🧍  passenger_count anomalies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412480" y="4142232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41422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412480" y="4462272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of 0 and &gt;6 exist. 0 passengers is logically inconsistent; &gt;6 may be group rides. Clarify with TLC.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before proceeding to regression model construction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115214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57607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68580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8191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2161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anomalous records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60934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negative fares, zero-distance-with-fare, and negative duration trips.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55080" y="1078992"/>
            <a:ext cx="57607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078992"/>
            <a:ext cx="68580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58191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78040" y="12161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extreme outliers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160934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total_amount &gt; $200. Confirm validity or remove from training set.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816352"/>
            <a:ext cx="57607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16352"/>
            <a:ext cx="68580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31927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29535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time features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334670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pickup_hour, day_of_week, is_weekend, and quarter from datetime columns.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55080" y="2816352"/>
            <a:ext cx="57607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2816352"/>
            <a:ext cx="68580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331927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78040" y="29535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RatecodeID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78040" y="334670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rate codes (2 = JFK, 3 = Newark) explain long-distance outliers — add as categorical feature.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553712"/>
            <a:ext cx="57607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553712"/>
            <a:ext cx="68580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505663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43000" y="46908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" y="508406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A/B testing to key variable pairs as recommended by Udo Bankole.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55080" y="4553712"/>
            <a:ext cx="57607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55080" y="4553712"/>
            <a:ext cx="68580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505663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78040" y="46908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Tableau dashboard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78040" y="508406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map of trip density by month for TLC executive stakeholder presentation.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6002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5727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complete — 0 missing values — and ready for modeling after targeted cleaning.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4414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trip_distance is the strongest predictor of fare_amount (r = 0.91).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33756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33101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patterns (Friday peaks, March/October highs) should inform feature engineering.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42062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417880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data quality issues have been identified and documented for the cleaning phase.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507492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50474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is ready to proceed to the Construct and Execute stages of PACE.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63093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Automatidata  |  NYC TLC Project  |  Course 2 EDA  |  June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Automatidata – NYC TLC EDA Executive Summary</dc:title>
  <dc:subject>PptxGenJS Presentation</dc:subject>
  <dc:creator>PptxGenJS</dc:creator>
  <cp:lastModifiedBy>PptxGenJS</cp:lastModifiedBy>
  <cp:revision>1</cp:revision>
  <dcterms:created xsi:type="dcterms:W3CDTF">2026-06-18T11:22:49Z</dcterms:created>
  <dcterms:modified xsi:type="dcterms:W3CDTF">2026-06-18T11:22:49Z</dcterms:modified>
</cp:coreProperties>
</file>